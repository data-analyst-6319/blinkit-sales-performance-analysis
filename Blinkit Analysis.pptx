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D2A2-1A3E-1C16-BC8F-8A694FB16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0151D-7D98-3016-B23B-FCF28D11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4AA5-1DFA-517F-C798-DD20055A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D5ABE-4E0C-8951-95DE-EC07B6DD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39FBA-2909-5BD4-DB7E-C27BE577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39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26B1-E6B4-29B7-33A2-292493ED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55F0A-23A9-DD7C-29F7-278CF0476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25BB9-C002-ED25-C7FD-FAE62CD4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41468-7410-C752-A2CC-99DE495E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089A1-5CC2-63D2-A6EA-E298914D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27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7B69-F5A8-C668-1A42-A9DD89C3F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AA850-00EC-DD62-E554-52D550536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29F5-E09A-49D6-06B8-701B4C8A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05185-B71D-8481-37CC-2A89B4AC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ACE4F-B161-0193-6A32-A330FD86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607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3AAF-60E4-7554-7354-BAD31B34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1C084-CA7E-4D99-5FD6-5DCDFDE13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381BD-AEB3-F397-0377-4C80A485C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11B94-87E0-A28B-F858-AD456751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191A5-672D-B95A-0DE3-C5F3A94C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F223E-CA7D-9248-90DA-232227F6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38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A639-E101-A08D-F6BB-58DB4FF8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CAF9F-935B-A2FB-B140-58A6F859D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25375-D9CB-22A5-8154-4CB1F8396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5620A5-65A7-D962-155F-35CE941ED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717A7-88FB-731C-E210-A36CF6C89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24D3B9-2C71-D988-2688-5C259207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80D28-9490-DEFE-9DE3-DBDCF382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DCEA4-EF66-C737-E20F-9AD96B72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2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0F51-EA1F-57F1-F5E9-2A333BD1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05111-64CF-BB3A-3E74-F2BFE715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CDA1B-7ECC-AF9D-951B-F2E87E86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CC807-7028-52DE-CD3D-4E00D5D0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77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03BA4-F7D2-5A55-6A78-0C582E90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2DF3B-82E3-D994-08FE-1C74551E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14575-D203-9130-B000-D97C4219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69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8EE8-F4D6-CB35-56DE-E48422441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0B96-DFA9-E678-8356-4CD10E18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17DEB-3B3C-AEB2-4718-755A7F684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2B1F0-4CE1-29A7-6681-FF4BB65E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5002E-26DB-C67B-3C53-43AD69FD0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3F296-4189-6F93-E5CD-7BC2BBC7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38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1BBE-2817-CDBD-27A5-997FA0FC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580371-8A9E-3C99-FC36-217815EE7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9CE07-6445-9006-689A-D4995EC30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C2772-CF98-E068-06FD-8A6A98C8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4C5F7-6D45-184C-B8A6-41FFB358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D0439-D9E8-9829-1F18-5B8EBE81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56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BCC6-1146-E258-CC5E-97BB2EFF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C57DB-0917-2D69-94B9-74F376E26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BA29F-E0D0-0FE1-8FA9-498BC6BF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B7849-A8C1-0FFD-F637-6B050555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E1752-4199-FC64-E1C8-797F7E26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27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C4D26-F2F2-DE8E-81D8-40B186FE3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104DF-459C-D92F-44AA-71F3269F3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355F2-70A1-C3B6-11F9-BD4DBD85F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8F989-5855-9B72-F679-341283D4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AFFAB-31B1-5CBF-B10A-65A83B27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59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8E730B-904D-7858-C41A-2BB7FCF4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18A02-8227-C06D-E0C6-68BE33EEC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00253-C8E2-BF80-7C1E-5828299AD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DED9E-7C95-4AC4-9A45-8F5ACD7F3B5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99147-204B-18B9-C29B-97F332CEE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2908-315E-AAEE-9A11-B8E635129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7FB28-DB98-4EC7-AC3F-0EB90FBD0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85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201A-5AB3-5059-7531-21E9A2CF0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3256"/>
            <a:ext cx="9144000" cy="725892"/>
          </a:xfrm>
        </p:spPr>
        <p:txBody>
          <a:bodyPr>
            <a:normAutofit/>
          </a:bodyPr>
          <a:lstStyle/>
          <a:p>
            <a:r>
              <a:rPr lang="en-IN" sz="3600" dirty="0" err="1">
                <a:solidFill>
                  <a:srgbClr val="FFCC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3600" dirty="0" err="1">
                <a:solidFill>
                  <a:schemeClr val="accent6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B2611-5099-3A51-B0F2-CA9D7E8D4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319" y="1974715"/>
            <a:ext cx="9980579" cy="4387174"/>
          </a:xfrm>
        </p:spPr>
        <p:txBody>
          <a:bodyPr>
            <a:normAutofit/>
          </a:bodyPr>
          <a:lstStyle/>
          <a:p>
            <a:r>
              <a:rPr lang="en-GB" sz="2800" dirty="0"/>
              <a:t>To evaluate total sales, consumer preferences for fat content, and outlet performance across different tiers and item types.</a:t>
            </a:r>
          </a:p>
          <a:p>
            <a:pPr algn="l"/>
            <a:r>
              <a:rPr lang="en-GB" sz="2800" b="1" dirty="0"/>
              <a:t>Key Performance Indicators (KPIs)</a:t>
            </a:r>
            <a:r>
              <a:rPr lang="en-GB" sz="2800" dirty="0"/>
              <a:t>:</a:t>
            </a:r>
          </a:p>
          <a:p>
            <a:pPr algn="l"/>
            <a:endParaRPr lang="en-GB" sz="2800" dirty="0"/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GB" sz="2800" b="1" dirty="0"/>
              <a:t>Total Sales</a:t>
            </a:r>
            <a:r>
              <a:rPr lang="en-GB" sz="2800" dirty="0"/>
              <a:t>: $1.20M.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GB" sz="2800" b="1" dirty="0"/>
              <a:t>Average Sales</a:t>
            </a:r>
            <a:r>
              <a:rPr lang="en-GB" sz="2800" dirty="0"/>
              <a:t>: $141.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GB" sz="2800" b="1" dirty="0"/>
              <a:t>Number of Items</a:t>
            </a:r>
            <a:r>
              <a:rPr lang="en-GB" sz="2800" dirty="0"/>
              <a:t>: 8,523.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GB" sz="2800" b="1" dirty="0"/>
              <a:t>Average Rating</a:t>
            </a:r>
            <a:r>
              <a:rPr lang="en-GB" sz="2800" dirty="0"/>
              <a:t>: 3.9.</a:t>
            </a:r>
          </a:p>
        </p:txBody>
      </p:sp>
    </p:spTree>
    <p:extLst>
      <p:ext uri="{BB962C8B-B14F-4D97-AF65-F5344CB8AC3E}">
        <p14:creationId xmlns:p14="http://schemas.microsoft.com/office/powerpoint/2010/main" val="7544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2DC5-BC8B-C677-DFB4-D8C71EED4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45348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Cleaning &amp; Transformation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6D84E-685F-4707-C9B0-28FE53065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66545"/>
            <a:ext cx="9144000" cy="3638144"/>
          </a:xfrm>
        </p:spPr>
        <p:txBody>
          <a:bodyPr>
            <a:normAutofit/>
          </a:bodyPr>
          <a:lstStyle/>
          <a:p>
            <a:pPr algn="l"/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Item Standardization: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Ensuring "Item Type" categories like "Fruits and Vegetables" and "Snack Foods" are consistent for accurate aggregation.</a:t>
            </a:r>
          </a:p>
          <a:p>
            <a:pPr algn="l"/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Fat Content Normalization: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Categorizing products strictly into "Low Fat" or "Regular" to streamline analysis.</a:t>
            </a:r>
          </a:p>
          <a:p>
            <a:pPr algn="l"/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Outlet Categorization: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Organizing locations into Tier 1, Tier 2, and Tier 3 for geographical performance tracking.</a:t>
            </a:r>
            <a:endParaRPr lang="en-IN" sz="2800" dirty="0">
              <a:latin typeface="Calibri" panose="020F0502020204030204" pitchFamily="34" charset="0"/>
              <a:ea typeface="Segoe UI Historic" panose="020B05020402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09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71D0-401B-592D-0E52-EB5514FB8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7453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Descriptive Statistical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F2FF2-939A-362F-E310-5F7F1CF12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5455"/>
            <a:ext cx="9144000" cy="3430182"/>
          </a:xfrm>
        </p:spPr>
        <p:txBody>
          <a:bodyPr>
            <a:normAutofit lnSpcReduction="10000"/>
          </a:bodyPr>
          <a:lstStyle/>
          <a:p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Fat Content Distribution: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Low Fat items account for approximately 64.7% ($776.32K) of total sales, while Regular items account for roughly 35.3% ($425.36K).</a:t>
            </a:r>
          </a:p>
          <a:p>
            <a:pPr algn="l"/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Sales by Location: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Tier 3: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The highest-earning tier with $0.48M in combined sales.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Tier 2: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$0.39M in combined sales.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Tier 1: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$0.34M in combined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723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F62B-A2FB-245B-4AF3-37E74A9B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6480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DAX Calculations &amp; Measures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890C3-7A42-A68D-0CF3-0DF1AF0D8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4637"/>
            <a:ext cx="9144000" cy="322958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Total Revenue Measure: 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A sum of sales across all item types and outlets, </a:t>
            </a:r>
            <a:r>
              <a:rPr lang="en-GB" sz="2800" dirty="0" err="1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totaling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 $1.20M.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Fat Content Comparison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 Calculations showing Low Fat sales ($776.32K) versus Regular Fat sales ($425.36K).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Outlet Type Performance</a:t>
            </a:r>
            <a:r>
              <a:rPr lang="en-GB" sz="2800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 Metrics tracking sales and item counts across Supermarket Type 1, Type 2, Type 3, and Grocery Stores.</a:t>
            </a:r>
            <a:endParaRPr lang="en-IN" sz="2800" dirty="0">
              <a:latin typeface="Calibri" panose="020F0502020204030204" pitchFamily="34" charset="0"/>
              <a:ea typeface="Segoe UI Historic" panose="020B05020402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67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F62B-A2FB-245B-4AF3-37E74A9B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64803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Visualizations &amp; Dashboard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890C3-7A42-A68D-0CF3-0DF1AF0D8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4637"/>
            <a:ext cx="9144000" cy="3852154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Doughnut Chart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 Used to visualize the proportion of Total Sales by Fat Content.</a:t>
            </a:r>
          </a:p>
          <a:p>
            <a:pPr algn="l"/>
            <a:r>
              <a:rPr lang="en-GB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Bar Charts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Item Type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 Ranking sales from highest (Fruits/Snacks at $0.18M) to lowest (Seafood at $0.01M).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Fat by Outlet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 Segmented bar charts showing the breakdown of Low Fat vs. Regular sales across three tiers.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Outlet Type Performance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 Metrics tracking sales and item counts across Supermarket Type 1, Type 2, Type 3, and Grocery Stores.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Grid Analysis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: A detailed table at the bottom comparing Outlet Type by Total Sales, No. of Items, </a:t>
            </a:r>
            <a:r>
              <a:rPr lang="en-GB" dirty="0" err="1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Avg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 Sales, and </a:t>
            </a:r>
            <a:r>
              <a:rPr lang="en-GB" dirty="0" err="1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Avg</a:t>
            </a:r>
            <a:r>
              <a:rPr lang="en-GB" dirty="0">
                <a:latin typeface="Calibri" panose="020F0502020204030204" pitchFamily="34" charset="0"/>
                <a:ea typeface="Segoe UI Historic" panose="020B0502040204020203" pitchFamily="34" charset="0"/>
                <a:cs typeface="Calibri" panose="020F0502020204030204" pitchFamily="34" charset="0"/>
              </a:rPr>
              <a:t> Rating.</a:t>
            </a:r>
            <a:endParaRPr lang="en-IN" dirty="0">
              <a:latin typeface="Calibri" panose="020F0502020204030204" pitchFamily="34" charset="0"/>
              <a:ea typeface="Segoe UI Historic" panose="020B05020402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54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F62B-A2FB-245B-4AF3-37E74A9B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6480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Insights &amp;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890C3-7A42-A68D-0CF3-0DF1AF0D8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4637"/>
            <a:ext cx="9144000" cy="385215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Consumer Trend</a:t>
            </a:r>
            <a:r>
              <a:rPr lang="en-GB" dirty="0"/>
              <a:t>: There is a clear preference for </a:t>
            </a:r>
            <a:r>
              <a:rPr lang="en-GB" b="1" dirty="0"/>
              <a:t>Low Fat</a:t>
            </a:r>
            <a:r>
              <a:rPr lang="en-GB" dirty="0"/>
              <a:t> products across all outlet tiers.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Top Categories</a:t>
            </a:r>
            <a:r>
              <a:rPr lang="en-GB" dirty="0"/>
              <a:t>: </a:t>
            </a:r>
            <a:r>
              <a:rPr lang="en-GB" b="1" dirty="0"/>
              <a:t>Fruits and Vegetables</a:t>
            </a:r>
            <a:r>
              <a:rPr lang="en-GB" dirty="0"/>
              <a:t> and </a:t>
            </a:r>
            <a:r>
              <a:rPr lang="en-GB" b="1" dirty="0"/>
              <a:t>Snack Foods</a:t>
            </a:r>
            <a:r>
              <a:rPr lang="en-GB" dirty="0"/>
              <a:t> are the primary revenue drivers, each contributing $0.18M.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Outlet Efficiency</a:t>
            </a:r>
            <a:r>
              <a:rPr lang="en-GB" dirty="0"/>
              <a:t>: </a:t>
            </a:r>
            <a:r>
              <a:rPr lang="en-GB" b="1" dirty="0"/>
              <a:t>Supermarket Type 1</a:t>
            </a:r>
            <a:r>
              <a:rPr lang="en-GB" dirty="0"/>
              <a:t> is the most significant contributor to volume, handling 5,577 items and generating $787.55K.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/>
              <a:t>Geographic Focus</a:t>
            </a:r>
            <a:r>
              <a:rPr lang="en-GB" dirty="0"/>
              <a:t>: </a:t>
            </a:r>
            <a:r>
              <a:rPr lang="en-GB" b="1" dirty="0"/>
              <a:t>Tier 3</a:t>
            </a:r>
            <a:r>
              <a:rPr lang="en-GB" dirty="0"/>
              <a:t> locations are currently the most profitable market segment.</a:t>
            </a:r>
            <a:endParaRPr lang="en-IN" dirty="0"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11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AC66B-D8A1-720A-8F52-1B06A1F1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9195-99F8-373D-63D7-AB9AA216B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1821" y="324694"/>
            <a:ext cx="9144000" cy="58970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Dashboard Overview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775D21-65C9-A149-5C4B-CC1BF826B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17" y="914399"/>
            <a:ext cx="10573965" cy="57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9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457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Segoe UI Black</vt:lpstr>
      <vt:lpstr>Segoe UI Historic</vt:lpstr>
      <vt:lpstr>Wingdings</vt:lpstr>
      <vt:lpstr>Office Theme</vt:lpstr>
      <vt:lpstr>Blinkit Sales Performance Analysis</vt:lpstr>
      <vt:lpstr>Data Cleaning &amp; Transformation</vt:lpstr>
      <vt:lpstr>Descriptive Statistical Analysis</vt:lpstr>
      <vt:lpstr>DAX Calculations &amp; Measures</vt:lpstr>
      <vt:lpstr>Data Visualizations &amp; Dashboard Design</vt:lpstr>
      <vt:lpstr>Insights &amp; Analysis</vt:lpstr>
      <vt:lpstr>Dashboard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2026-02-22T19:02:52Z</dcterms:created>
  <dcterms:modified xsi:type="dcterms:W3CDTF">2026-02-22T21:14:04Z</dcterms:modified>
</cp:coreProperties>
</file>